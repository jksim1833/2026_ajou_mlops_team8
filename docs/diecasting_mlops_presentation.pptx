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클래스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bubble3D val="0"/>
            <c:spPr>
              <a:solidFill>
                <a:srgbClr val="E0A4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정상(normal)</c:v>
                </c:pt>
                <c:pt idx="1">
                  <c:v>불량(defect)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1960</c:v>
                </c:pt>
                <c:pt idx="1">
                  <c:v>555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F1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</c:v>
                  </c:pt>
                  <c:pt idx="1">
                    <c:v>D.Tree</c:v>
                  </c:pt>
                  <c:pt idx="2">
                    <c:v>XGBoost</c:v>
                  </c:pt>
                  <c:pt idx="3">
                    <c:v>R.Forest</c:v>
                  </c:pt>
                  <c:pt idx="4">
                    <c:v>LightGBM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0.523</c:v>
                </c:pt>
                <c:pt idx="1">
                  <c:v>0.486</c:v>
                </c:pt>
                <c:pt idx="2">
                  <c:v>0.467</c:v>
                </c:pt>
                <c:pt idx="3">
                  <c:v>0.467</c:v>
                </c:pt>
                <c:pt idx="4">
                  <c:v>0.389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MLOps 기말 프로젝트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정상/불량 예측을 위한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MLOps 기반 AI 서비스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End-to-End MLOps Pipeline for Die-Casting Defect Prediction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4389120"/>
            <a:ext cx="5029200" cy="0"/>
          </a:xfrm>
          <a:prstGeom prst="line">
            <a:avLst/>
          </a:prstGeom>
          <a:noFill/>
          <a:ln w="25400">
            <a:solidFill>
              <a:srgbClr val="E0A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572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아주대학교 · MLOps · 8조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김병근 (Data) · Zhang Xin (Modeling/XAI) · 심재광 (MLOps/Serving)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2026-06-14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정의와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공정·센서 데이터로 제품의 </a:t>
            </a:r>
            <a:pPr indent="0" marL="0">
              <a:buNone/>
            </a:pPr>
            <a:r>
              <a:rPr lang="en-US" sz="19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정상/불량을 예측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하고, 그 </a:t>
            </a:r>
            <a:pPr indent="0" marL="0">
              <a:buNone/>
            </a:pPr>
            <a:r>
              <a:rPr lang="en-US" sz="19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근거(XAI)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함께 제시하는 AI 서비스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온도·압력·분사시간 등 다수 공정 변수가 품질에 영향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간 상호작용이 복잡 → 사람의 직관만으로 일관된 판단 곤란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성능 비교가 아닌 "운영 가능한 AI 서비스" 구축이 목표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입·출력 / 대상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0" y="2834640"/>
            <a:ext cx="5239512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8346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사용자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28346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공정 엔지니어 / 품질관리자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3493008"/>
            <a:ext cx="5239512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4930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(Input)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34930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28개 공정·센서 feature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4151376"/>
            <a:ext cx="5239512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1513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(Output)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4151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정상/불량, 클래스 확률, 상위 기여 feature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809744"/>
            <a:ext cx="5239512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8097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48097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F1/ROC-AUC · MLflow · API+UI · Docker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이해와 전처리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KAMP 다이캐스팅 Product 1 · binary_product1_v2_dedup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27048"/>
            <a:ext cx="24688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4,207 → 2,515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0802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1,692건 제거 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527048"/>
            <a:ext cx="24688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1,960 / 555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20802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/ 불량 (22.1%)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41732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1527048"/>
            <a:ext cx="24688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/ 15 / 15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43600" y="20802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stratified split · overlap 0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503920" y="1371600"/>
          <a:ext cx="3108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 핵심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48640" y="3108960"/>
            <a:ext cx="7772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이진 라벨: 결함 컬럼 합 &gt; 0 → defect(1), 아니면 normal(0)</a:t>
            </a:r>
            <a:endParaRPr lang="en-US" sz="14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누출 방지: 결함 판정 26개 컬럼을 feature에서 제거</a:t>
            </a:r>
            <a:endParaRPr lang="en-US" sz="14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제거 후 stratified 분할, 3분할 간 완전중복 0건 검증</a:t>
            </a:r>
            <a:endParaRPr lang="en-US" sz="14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 0 · 상수 feature 8개 · EDA로 SMD 상위 8개 분석</a:t>
            </a:r>
            <a:endParaRPr lang="en-US" sz="14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최상위 분리 변수: Factory_Humidity (SMD 0.715, 불량과 음의 상관)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파이프라인 — DVC 4단계 실행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dvc repro 한 줄로 순서 실행 · 입력 해시가 바뀐 단계와 그 이후만 다시 실행(증분)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· 실행 명령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내용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0" y="129844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(outs)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11091672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1965960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645920"/>
            <a:ext cx="3657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prepare_data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src.data.prepare_data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755648"/>
            <a:ext cx="0" cy="841248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4160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생성 → 결함 26컬럼 제거(누출 방지)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중복 1,692건 제거 → stratified 70/15/15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755648"/>
            <a:ext cx="0" cy="841248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645920"/>
            <a:ext cx="29535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train/valid/test.csv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data_profile.json · EDA plots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16352"/>
            <a:ext cx="11091672" cy="1060704"/>
          </a:xfrm>
          <a:prstGeom prst="roundRect">
            <a:avLst>
              <a:gd name="adj" fmla="val 4310"/>
            </a:avLst>
          </a:prstGeom>
          <a:solidFill>
            <a:srgbClr val="EEF3F8"/>
          </a:solidFill>
          <a:ln w="12700">
            <a:solidFill>
              <a:srgbClr val="C9D6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" y="3136392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2816352"/>
            <a:ext cx="3657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train_binary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src.models.train_binary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0" cy="841248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16352"/>
            <a:ext cx="4160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RandomForest baseline 학습(balanced)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validation·test 평가 + MLflow 로깅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52560" y="2926080"/>
            <a:ext cx="0" cy="841248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816352"/>
            <a:ext cx="29535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rf_baseline.joblib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지표·플롯 · MLflow run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986784"/>
            <a:ext cx="11091672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" y="4306824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3986784"/>
            <a:ext cx="3657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compare_baselines_xai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src.models.compare_baselines_xai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4096512"/>
            <a:ext cx="0" cy="841248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86784"/>
            <a:ext cx="4160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후보 동일 split 비교 → Val F1 순위화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후보에 SHAP 전역·지역 해석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52560" y="4096512"/>
            <a:ext cx="0" cy="841248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3986784"/>
            <a:ext cx="29535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baseline_comparison.json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SHAP 산출물 · handoff note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157216"/>
            <a:ext cx="11091672" cy="1060704"/>
          </a:xfrm>
          <a:prstGeom prst="roundRect">
            <a:avLst>
              <a:gd name="adj" fmla="val 4310"/>
            </a:avLst>
          </a:prstGeom>
          <a:solidFill>
            <a:srgbClr val="EEF3F8"/>
          </a:solidFill>
          <a:ln w="12700">
            <a:solidFill>
              <a:srgbClr val="C9D6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4944" y="5477256"/>
            <a:ext cx="420624" cy="420624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5477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5157216"/>
            <a:ext cx="3657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tune_logistic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src.models.tune_logistic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5266944"/>
            <a:ext cx="0" cy="841248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5157216"/>
            <a:ext cx="4160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5-fold CV 30회 탐색 → threshold sweep(0.49)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champion 등록·태깅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52560" y="5266944"/>
            <a:ext cx="0" cy="841248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0" y="5157216"/>
            <a:ext cx="29535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model.joblib · metadata.json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metrics.json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단계의 산출물이 다음 단계의 입력이 되며, dvc.lock 해시로 정합성·증분 실행을 보장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MLOps 4계층 &amp; 재현성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파이프라인을 떠받치는 도구의 역할과, 누구나 동일 결과를 얻는 방법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08676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109728" cy="1691640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81912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/ GitHub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20824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코드·설정 버전관리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368296"/>
            <a:ext cx="49057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브랜치 sim → main 통합. .gitignore로 데이터·모델·DB는 제외 → 코드와 데이터의 책임을 분리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417320"/>
            <a:ext cx="5408676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1636" y="1417320"/>
            <a:ext cx="109728" cy="1691640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581912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DVC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05956" y="2020824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데이터·파이프라인 버전관리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05956" y="2368296"/>
            <a:ext cx="49057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content-addressed 캐시 + 4-stage DAG. dvc.lock 해시로 바뀐 단계만 증분 재실행, 어디서나 dvc pull로 복원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408676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37560"/>
            <a:ext cx="109728" cy="1691640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02152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3941064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추적 · 모델 거버넌스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288536"/>
            <a:ext cx="49057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params·metrics·artifacts를 run 단위로 기록. champion 태그로 서빙 대상 단일화(이전 champion은 superseded)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1636" y="3337560"/>
            <a:ext cx="5408676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1636" y="3337560"/>
            <a:ext cx="109728" cy="1691640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05956" y="3502152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05956" y="3941064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동결 서빙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05956" y="4288536"/>
            <a:ext cx="49057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runtime·의존성·champion 아티팩트를 추론 전용 image(~154MB)로 고정 → .venv 없이도 동일 추론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1F4E7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5440680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절차 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</a:t>
            </a:r>
            <a:pPr indent="0" marL="0">
              <a:buNone/>
            </a:pPr>
            <a:r>
              <a:rPr lang="en-US" sz="1500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dvc pull</a:t>
            </a:r>
            <a:pPr indent="0" marL="0">
              <a:buNone/>
            </a:pPr>
            <a:r>
              <a:rPr lang="en-US" sz="1500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5833872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코드(Git) + 데이터(DVC) + 모델 선택(MLflow) + 환경(Docker)이 맞물려 임의 시점 모델을 동일하게 재현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실험 — 어떻게 비교했나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split에서 5개 후보를 같은 절차로 학습·평가하고 validation F1로 순위화 (AutoML-lite)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874520" cy="749808"/>
          </a:xfrm>
          <a:prstGeom prst="roundRect">
            <a:avLst>
              <a:gd name="adj" fmla="val 6098"/>
            </a:avLst>
          </a:prstGeom>
          <a:solidFill>
            <a:srgbClr val="DCE7F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371600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</a:t>
            </a:r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split 고정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04872" y="1371600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24328" y="1371600"/>
            <a:ext cx="1874520" cy="749808"/>
          </a:xfrm>
          <a:prstGeom prst="roundRect">
            <a:avLst>
              <a:gd name="adj" fmla="val 6098"/>
            </a:avLst>
          </a:prstGeom>
          <a:solidFill>
            <a:srgbClr val="DCE7F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34056" y="1371600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</a:t>
            </a:r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후보 학습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1371600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0016" y="1371600"/>
            <a:ext cx="1874520" cy="749808"/>
          </a:xfrm>
          <a:prstGeom prst="roundRect">
            <a:avLst>
              <a:gd name="adj" fmla="val 6098"/>
            </a:avLst>
          </a:prstGeom>
          <a:solidFill>
            <a:srgbClr val="DCE7F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9744" y="1371600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</a:t>
            </a:r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지표 평가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6248" y="1371600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75704" y="1371600"/>
            <a:ext cx="1874520" cy="749808"/>
          </a:xfrm>
          <a:prstGeom prst="roundRect">
            <a:avLst>
              <a:gd name="adj" fmla="val 6098"/>
            </a:avLst>
          </a:prstGeom>
          <a:solidFill>
            <a:srgbClr val="DCE7F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85432" y="1371600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 </a:t>
            </a:r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F1 순위화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31936" y="1371600"/>
            <a:ext cx="237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51392" y="1371600"/>
            <a:ext cx="1874520" cy="749808"/>
          </a:xfrm>
          <a:prstGeom prst="roundRect">
            <a:avLst>
              <a:gd name="adj" fmla="val 6098"/>
            </a:avLst>
          </a:prstGeom>
          <a:solidFill>
            <a:srgbClr val="1F4E7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0" y="1371600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Champion 선정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2331720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validation F1 순위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269748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868680" y="2788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 ↓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37960" y="2331720"/>
            <a:ext cx="5102352" cy="13716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766560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Champion: Logistic Regression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66560" y="2971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F1 </a:t>
            </a:r>
            <a:pPr indent="0" marL="0">
              <a:buNone/>
            </a:pPr>
            <a:r>
              <a:rPr lang="en-US" sz="14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0.523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Recall </a:t>
            </a:r>
            <a:pPr indent="0" marL="0">
              <a:buNone/>
            </a:pPr>
            <a:r>
              <a:rPr lang="en-US" sz="14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0.819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ROC-AUC </a:t>
            </a:r>
            <a:pPr indent="0" marL="0">
              <a:buNone/>
            </a:pPr>
            <a:r>
              <a:rPr lang="en-US" sz="14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0.743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537960" y="3931920"/>
            <a:ext cx="5102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 (다음 단계 tune_logistic으로 핸드오프)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37960" y="4297680"/>
            <a:ext cx="51023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탐지에 중요한 recall이 가장 높음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학습·추론 &lt; 0.01s 로 가장 빠름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모델 → 계수 기반 해석 용이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트리·부스팅 계열은 recall/F1 열세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튜닝 &amp; 실험 추적 (MLflow)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5-fold CV 30회 탐색 → threshold 0.49 선택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217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60120"/>
                <a:gridCol w="1188720"/>
                <a:gridCol w="9601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ROC-AUC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Recall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Precision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Baseline val @0.50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0.523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0.743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0.819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0.384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Tuned val @0.49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0.748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0.843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Champion test @0.49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0.488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86200"/>
            <a:ext cx="6400800" cy="1554480"/>
          </a:xfrm>
          <a:prstGeom prst="roundRect">
            <a:avLst>
              <a:gd name="adj" fmla="val 2941"/>
            </a:avLst>
          </a:prstGeom>
          <a:solidFill>
            <a:srgbClr val="EEF3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Params · Champion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343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C=0.0562 · penalty=l2 · solver=saga · class_weight=balanced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run: c902f8c099e941e6ba2d3dc62a4cf3b1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params·metrics·artifacts 기록 + champion 태그 (이전 champion은 superseded)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2245424"/>
            <a:ext cx="4370832" cy="24585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5532120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MLflow champion run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XAI — 모델 해석 (SHAP)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전역(global) + 지역(local) 해석으로 판단 근거 설명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098" y="1463040"/>
            <a:ext cx="4082044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6634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그림: 평균 |SHAP| 상위 feature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전역 해석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09360" y="17830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Factory_Humidity — 가장 큰 기여 (높을수록 정상)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Spray_1_Time — 높을수록 불량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SHAP·permutation·EDA(SMD) 결과가 상호 일치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해석 (test sample #57)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09360" y="3657600"/>
            <a:ext cx="5394960" cy="169164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37490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실제=불량, 예측=불량, defect 확률 0.801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Factory_Humidity=46.4 → SHAP +1.39 (불량 강하게 기여)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공장 습도가 핵심 동인 → 전역 해석과 일치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변수별 기여도로 "왜 불량인가"를 엔지니어에게 제시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Serving — FastAPI &amp; Streamlit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(FastAPI)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37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737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로드 상태 확인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957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/model-info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3957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버전·threshold·feature 목록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EE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540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/predict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0540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예측·확률·상위 기여 feature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486400" cy="960120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04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구성: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라벨 · 클래스 확률 · 상위 5개 기여 feature · 모델/데이터 버전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추적성과 설명가능성 동시 제공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5486400" cy="1097280"/>
          </a:xfrm>
          <a:prstGeom prst="roundRect">
            <a:avLst>
              <a:gd name="adj" fmla="val 4167"/>
            </a:avLst>
          </a:prstGeom>
          <a:solidFill>
            <a:srgbClr val="1F4E7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 UI · 6개 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440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Predict · Metrics · Data EDA · Feature Importance · Baseline/XAI · Artifacts</a:t>
            </a:r>
            <a:endParaRPr lang="en-US" sz="12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3234" y="1371600"/>
            <a:ext cx="3448924" cy="237744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416" y="3840480"/>
            <a:ext cx="42265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8016" cy="475488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47472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배포 &amp; 재현성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다이캐스팅 MLOps · 8조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331720" cy="10972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2704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~154 MB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053742"/>
            <a:ext cx="214884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전용 image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417320"/>
            <a:ext cx="2331720" cy="109728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527048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healthy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08960" y="2053742"/>
            <a:ext cx="214884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volume 없이 실행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800600" cy="1371600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/predict 검증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샘플 → normal (확률 0.8937)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샘플 → defect (확률 0.6982)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/health·/model-info 포함 4건 모두 HTTP 200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재현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dvc pull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&amp; run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77081"/>
            <a:ext cx="5788152" cy="396103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852160" y="5943600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컨테이너 FastAPI Swagger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A4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2A5C8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928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 0.488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419502"/>
            <a:ext cx="301752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(recall 0.759)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2A5C8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8928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ROC-AUC 0.758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0" y="2419502"/>
            <a:ext cx="301752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기준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7830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A5C8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189280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0" y="2419502"/>
            <a:ext cx="33832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7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요구항목 충족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154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성과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버전관리 → 실험 추적 → 튜닝 → XAI → 서빙 → 컨테이너 배포 전 과정 구현·검증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champion 모델은 불량 탐지(recall) 중심의 운영 가능한 baseline 제공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checkout + dvc pull + docker run 으로 환경 독립적 재현 보장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4406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데이터/예측 드리프트 모니터링 · 자동 재학습 트리거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AutoGluon/H2O 본격 AutoML · 클라우드 registry/배포 · 멀티클래스 결함 분류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다이캐스팅 정상/불량 예측 MLOps AI 서비스</dc:title>
  <dc:subject>PptxGenJS Presentation</dc:subject>
  <dc:creator>AJOU MLOps Team 8</dc:creator>
  <cp:lastModifiedBy>AJOU MLOps Team 8</cp:lastModifiedBy>
  <cp:revision>1</cp:revision>
  <dcterms:created xsi:type="dcterms:W3CDTF">2026-06-14T11:30:35Z</dcterms:created>
  <dcterms:modified xsi:type="dcterms:W3CDTF">2026-06-14T11:30:35Z</dcterms:modified>
</cp:coreProperties>
</file>